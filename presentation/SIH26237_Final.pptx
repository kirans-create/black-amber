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Problem Statement ID – </a:t>
            </a:r>
            <a:r>
              <a:rPr sz="2000" b="1">
                <a:solidFill>
                  <a:srgbClr val="102C57"/>
                </a:solidFill>
                <a:latin typeface="Arial"/>
              </a:rPr>
              <a:t>SIH26237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Problem Statement Title – </a:t>
            </a:r>
            <a:r>
              <a:rPr sz="2000" b="1">
                <a:solidFill>
                  <a:srgbClr val="102C57"/>
                </a:solidFill>
                <a:latin typeface="Arial"/>
              </a:rPr>
              <a:t>Post-Quantum Document Leak Attribution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Theme – </a:t>
            </a:r>
            <a:r>
              <a:rPr sz="2000" b="0">
                <a:solidFill>
                  <a:srgbClr val="212529"/>
                </a:solidFill>
                <a:latin typeface="Arial"/>
              </a:rPr>
              <a:t>Security &amp; Surveillance / Cybersecurity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PS Category – </a:t>
            </a:r>
            <a:r>
              <a:rPr sz="2000" b="0">
                <a:solidFill>
                  <a:srgbClr val="212529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Team ID – </a:t>
            </a:r>
            <a:r>
              <a:rPr sz="2000" b="0">
                <a:solidFill>
                  <a:srgbClr val="212529"/>
                </a:solidFill>
                <a:latin typeface="Arial"/>
              </a:rPr>
              <a:t>[Team ID]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12529"/>
                </a:solidFill>
                <a:latin typeface="Arial"/>
              </a:rPr>
              <a:t>Team Name – </a:t>
            </a:r>
            <a:r>
              <a:rPr sz="2000" b="1">
                <a:solidFill>
                  <a:srgbClr val="102C57"/>
                </a:solidFill>
                <a:latin typeface="Arial"/>
              </a:rPr>
              <a:t>Ad Astra (iTantra)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>
              <a:defRPr sz="3200" b="1"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371600"/>
            <a:ext cx="106984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sz="1200" b="1">
                <a:solidFill>
                  <a:srgbClr val="102C57"/>
                </a:solidFill>
                <a:latin typeface="Arial"/>
              </a:rPr>
              <a:t>CORE PIPELINE:  Original Document  →  ML-KEM-768 Release  →  Sovereign Decrypt  →  Tardos Fingerprint  →  Optical Watermark  →  Analog Leak  →  Signal Recovery  →  Evidence Fusion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12529"/>
                </a:solidFill>
                <a:latin typeface="Arial"/>
              </a:rPr>
              <a:t>•  The Physical Leakage Boundary Problem:</a:t>
            </a:r>
            <a:r>
              <a:rPr sz="1350">
                <a:solidFill>
                  <a:srgbClr val="212529"/>
                </a:solidFill>
                <a:latin typeface="Arial"/>
              </a:rPr>
              <a:t> Conventional DRM &amp; encryption protect files in transit and at rest, but fail completely once an authorized recipient renders the plaintext or prints it on paper, enabling anonymous smartphone photography leaks.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12529"/>
                </a:solidFill>
                <a:latin typeface="Arial"/>
              </a:rPr>
              <a:t>•  Post-Quantum Multi-Recipient Envelope:</a:t>
            </a:r>
            <a:r>
              <a:rPr sz="1350">
                <a:solidFill>
                  <a:srgbClr val="212529"/>
                </a:solidFill>
                <a:latin typeface="Arial"/>
              </a:rPr>
              <a:t> The authority encapsulates an ephemeral symmetric key (K_doc : AES-256-GCM) independently per recipient using NIST ML-KEM-768 (FIPS 203). Client decapsulation produces a non-repudiable ML-DSA-65 signed provenance ticket on a tamper-evident hash chain.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12529"/>
                </a:solidFill>
                <a:latin typeface="Arial"/>
              </a:rPr>
              <a:t>•  Collusion-Resistant Optical Carrier:</a:t>
            </a:r>
            <a:r>
              <a:rPr sz="1350">
                <a:solidFill>
                  <a:srgbClr val="212529"/>
                </a:solidFill>
                <a:latin typeface="Arial"/>
              </a:rPr>
              <a:t> Embeds dynamic capacity-planned Symmetric Tardos codes (c=3, ε1=10⁻⁴) through DSSS spatial modulation and Reed-Solomon ECC, synchronized via 4-corner ArUco fiducials surviving print-scan and camera perspective tilt (±30°).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12529"/>
                </a:solidFill>
                <a:latin typeface="Arial"/>
              </a:rPr>
              <a:t>•  Fail-Closed Evidence Fusion Engine:</a:t>
            </a:r>
            <a:r>
              <a:rPr sz="1350">
                <a:solidFill>
                  <a:srgbClr val="212529"/>
                </a:solidFill>
                <a:latin typeface="Arial"/>
              </a:rPr>
              <a:t> Correlates physical watermark, Tardos likelihoods, and signed provenance in an Evidence Dependency Graph. Strictly enforces Transitive Lineage Bounding to eliminate double-counting, requiring separation (Δ ≥ 2.5) before attributing.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Arial"/>
              </a:rPr>
              <a:t>•  Core Value Axiom:</a:t>
            </a:r>
            <a:r>
              <a:rPr sz="1350">
                <a:solidFill>
                  <a:srgbClr val="212529"/>
                </a:solidFill>
                <a:latin typeface="Arial"/>
              </a:rPr>
              <a:t> 'Protect the document before release, trace the recipient-specific copy after leakage, and abstain when evidence is insufficient or contradictory.'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Ad Astra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371600"/>
            <a:ext cx="106984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102C57"/>
                </a:solidFill>
                <a:latin typeface="Arial"/>
              </a:rPr>
              <a:t>1. Cryptographic Trust Layer (NIST FIPS 203 / 204):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ML-KEM-768 Key Encapsulation: </a:t>
            </a:r>
            <a:r>
              <a:rPr sz="1300">
                <a:solidFill>
                  <a:srgbClr val="212529"/>
                </a:solidFill>
                <a:latin typeface="Arial"/>
              </a:rPr>
              <a:t>Wraps 256-bit ephemeral document key per recipient (11.61 ms encap). Sovereign client-side private key isolation ensures zero server key escrow.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ML-DSA-65 Digital Signatures: </a:t>
            </a:r>
            <a:r>
              <a:rPr sz="1300">
                <a:solidFill>
                  <a:srgbClr val="212529"/>
                </a:solidFill>
                <a:latin typeface="Arial"/>
              </a:rPr>
              <a:t>Sovereign client signs decryption provenance event (20.97 ms verify), committed to an immutable SHA-256 Merkle hash-chained ledger.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102C57"/>
                </a:solidFill>
                <a:latin typeface="Arial"/>
              </a:rPr>
              <a:t>2. Traceability &amp; Optical Carrier Modulation: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Symmetric Tardos Traitor-Tracing: </a:t>
            </a:r>
            <a:r>
              <a:rPr sz="1300">
                <a:solidFill>
                  <a:srgbClr val="212529"/>
                </a:solidFill>
                <a:latin typeface="Arial"/>
              </a:rPr>
              <a:t>Capacity planner sizes code length m = 100 · c² · ln(1/ε1). Symbol-symmetric accumulator calculates continuous likelihoods under collusion.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DSSS &amp; Geometric Synchronization: </a:t>
            </a:r>
            <a:r>
              <a:rPr sz="1300">
                <a:solidFill>
                  <a:srgbClr val="212529"/>
                </a:solidFill>
                <a:latin typeface="Arial"/>
              </a:rPr>
              <a:t>Spreads bitstream across spatial luminance blocks with Reed-Solomon ECC. 4 ArUco corner fiducials enable homography perspective rectification (cv2.warpPerspective).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102C57"/>
                </a:solidFill>
                <a:latin typeface="Arial"/>
              </a:rPr>
              <a:t>3. Forensic Evidence Fusion &amp; Decision Protocol: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Evidence Dependency Graph: </a:t>
            </a:r>
            <a:r>
              <a:rPr sz="1300">
                <a:solidFill>
                  <a:srgbClr val="212529"/>
                </a:solidFill>
                <a:latin typeface="Arial"/>
              </a:rPr>
              <a:t>Transitive derivation bounding max_{n∈Tree}(ρn · LLRn) eliminates double-counting between raw watermarks and derived Tardos scores.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 •  Fail-Closed 5-State Engine: </a:t>
            </a:r>
            <a:r>
              <a:rPr sz="1300">
                <a:solidFill>
                  <a:srgbClr val="212529"/>
                </a:solidFill>
                <a:latin typeface="Arial"/>
              </a:rPr>
              <a:t>Outputs ATTRIBUTED, NO_SIGNAL, INSUFFICIENT_EVIDENCE, CONFLICT, or REVIEW_REQUIRED. Enforces candidate separation margin Δ = S(1) - S(2) ≥ 2.5.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Ad Astra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371600"/>
            <a:ext cx="106984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>
                <a:solidFill>
                  <a:srgbClr val="102C57"/>
                </a:solidFill>
                <a:latin typeface="Arial"/>
              </a:rPr>
              <a:t>•  100% Offline Air-Gapped Feasibility:</a:t>
            </a:r>
            <a:r>
              <a:rPr sz="1300">
                <a:solidFill>
                  <a:srgbClr val="212529"/>
                </a:solidFill>
                <a:latin typeface="Arial"/>
              </a:rPr>
              <a:t> Fully self-contained local architecture requiring zero cloud SaaS APIs or external daemons. Operates across local FastAPI REST server, SQLite metadata control plane, local filesystem artifact storage, and React/Vite web dashboard.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•  Sub-Second Turnkey Deployment:</a:t>
            </a:r>
            <a:r>
              <a:rPr sz="1300">
                <a:solidFill>
                  <a:srgbClr val="212529"/>
                </a:solidFill>
                <a:latin typeface="Arial"/>
              </a:rPr>
              <a:t> Measured clean environment reset in 349.11 ms; deterministic demo fixture generation in 140.49 ms; system health check in 209.19 ms. Starts instantly on standard Windows/Linux laptops with single command start_demo.ps1.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•  Adversarial Robustness &amp; Attack Lab:</a:t>
            </a:r>
            <a:r>
              <a:rPr sz="1300">
                <a:solidFill>
                  <a:srgbClr val="212529"/>
                </a:solidFill>
                <a:latin typeface="Arial"/>
              </a:rPr>
              <a:t> Systematic attack evaluation across JPEG recompression (Q=10..95), downsampling (25%..75%), rotation (0.5°..5.0°), cropping (10%..30%), and simulated print-camera capture with optical blur and ambient noise.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•  Zero-Trust Risk Mitigation (Fail-Closed):</a:t>
            </a:r>
            <a:r>
              <a:rPr sz="1300">
                <a:solidFill>
                  <a:srgbClr val="212529"/>
                </a:solidFill>
                <a:latin typeface="Arial"/>
              </a:rPr>
              <a:t> Under severe destructive attacks (&gt;30% crop or carrier wipe), Attack-Aware Reliability module dynamically attenuates confidence and strictly transitions to INSUFFICIENT_EVIDENCE, mathematically eliminating false accusations against innocent recipients.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•  Scientific Boundary Disclosure:</a:t>
            </a:r>
            <a:r>
              <a:rPr sz="1300">
                <a:solidFill>
                  <a:srgbClr val="212529"/>
                </a:solidFill>
                <a:latin typeface="Arial"/>
              </a:rPr>
              <a:t> Automated test suite evaluates 75 simulated optical capture runs (PrintCameraSimulationAttack); real physical print/scan laboratory validation is structured via standalone hardware ingestion protocol (ingest_physical_capture.py).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Ad Astra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371600"/>
            <a:ext cx="106984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00" b="1">
                <a:solidFill>
                  <a:srgbClr val="102C57"/>
                </a:solidFill>
                <a:latin typeface="Arial"/>
              </a:rPr>
              <a:t>OPERATIONAL IMPACT &amp; MEASURED BENCHMARKS (SIH26237 REPOSITORY TELEMETRY)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NIST Post-Quantum Cryptography Latency:</a:t>
            </a:r>
            <a:r>
              <a:rPr sz="1250">
                <a:solidFill>
                  <a:srgbClr val="212529"/>
                </a:solidFill>
                <a:latin typeface="Arial"/>
              </a:rPr>
              <a:t> ML-KEM-768 Encapsulation: 11.61 ms | Decapsulation: 12.40 ms | ML-DSA-65 Signature: 124.33 ms | Signature Verify: 20.97 ms | AES-256-GCM Envelope: 0.30 ms (scripts/benchmark_crypto.py).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Optical Watermark Recovery (Simulated Channel):</a:t>
            </a:r>
            <a:r>
              <a:rPr sz="1250">
                <a:solidFill>
                  <a:srgbClr val="212529"/>
                </a:solidFill>
                <a:latin typeface="Arial"/>
              </a:rPr>
              <a:t> Average ArUco Sync Latency: 26.50 ms | DSSS Demodulation: 36.31 ms | Total Decode: 62.81 ms. Evaluated across 75 simulated optical capture runs with 0.0% post-ECC BER on recovered carriers.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Zero False Accusations on Negative Corpus:</a:t>
            </a:r>
            <a:r>
              <a:rPr sz="1250">
                <a:solidFill>
                  <a:srgbClr val="212529"/>
                </a:solidFill>
                <a:latin typeface="Arial"/>
              </a:rPr>
              <a:t> 0 false accusations observed across 50 unwatermarked / negative document evaluation runs (0.0% empirical false accusation rate; 50/50 clean fail-closed abstentions).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Evidence Fusion Synthetic Evaluation:</a:t>
            </a:r>
            <a:r>
              <a:rPr sz="1250">
                <a:solidFill>
                  <a:srgbClr val="212529"/>
                </a:solidFill>
                <a:latin typeface="Arial"/>
              </a:rPr>
              <a:t> 74.0% (74/100) decision-match rate on 100-scenario held-out evaluation split under extreme compound adversarial attack corruptions. Zero false accusations against innocent enrolled recipients.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Full Regression Suite Validation:</a:t>
            </a:r>
            <a:r>
              <a:rPr sz="1250">
                <a:solidFill>
                  <a:srgbClr val="212529"/>
                </a:solidFill>
                <a:latin typeface="Arial"/>
              </a:rPr>
              <a:t> 43 / 43 automated unit, integration, deployment, and presentation tests passing (pytest in 6.05s). Clean Windows AMD64 portability verified.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12529"/>
                </a:solidFill>
                <a:latin typeface="Arial"/>
              </a:rPr>
              <a:t>•  National Defense &amp; Enterprise Benefits:</a:t>
            </a:r>
            <a:r>
              <a:rPr sz="1250">
                <a:solidFill>
                  <a:srgbClr val="212529"/>
                </a:solidFill>
                <a:latin typeface="Arial"/>
              </a:rPr>
              <a:t> Closes the post-decryption 'analog hole' for defense intelligence, confidential R&amp;D, and judicial records with legally auditable, non-repudiable provenance.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Ad Astra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371600"/>
            <a:ext cx="106984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>
                <a:solidFill>
                  <a:srgbClr val="102C57"/>
                </a:solidFill>
                <a:latin typeface="Arial"/>
              </a:rPr>
              <a:t>Foundational Research &amp; Standards Reused: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NIST FIPS 203 &amp; FIPS 204: </a:t>
            </a:r>
            <a:r>
              <a:rPr sz="1250">
                <a:solidFill>
                  <a:srgbClr val="212529"/>
                </a:solidFill>
                <a:latin typeface="Arial"/>
              </a:rPr>
              <a:t>Module-Lattice-Based Key-Encapsulation (ML-KEM) and Digital Signature Standard (ML-DSA), National Institute of Standards and Technology (2024).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Symmetric Tardos Codes: </a:t>
            </a:r>
            <a:r>
              <a:rPr sz="1250">
                <a:solidFill>
                  <a:srgbClr val="212529"/>
                </a:solidFill>
                <a:latin typeface="Arial"/>
              </a:rPr>
              <a:t>G. Tardos, 'Optimal probabilistic fingerprint codes', ACM STOC (2003); B. Skoric et al., 'Symmetric Tardos fingerprinting codes', IEEE Trans. Inf. Theory (2008).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Open-Source Primitives: </a:t>
            </a:r>
            <a:r>
              <a:rPr sz="1250">
                <a:solidFill>
                  <a:srgbClr val="212529"/>
                </a:solidFill>
                <a:latin typeface="Arial"/>
              </a:rPr>
              <a:t>OpenCV ArUco fiducials &amp; perspective homography, Reed-Solomon codec, PyCryptodome AES-GCM, ReportLab, NumPy, SciPy, FastAPI.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SIH26237 System-Level Contributions: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Unified Release-to-Leak Architecture: </a:t>
            </a:r>
            <a:r>
              <a:rPr sz="1250">
                <a:solidFill>
                  <a:srgbClr val="212529"/>
                </a:solidFill>
                <a:latin typeface="Arial"/>
              </a:rPr>
              <a:t>Seamless pipeline from post-quantum envelope encryption to physical carrier recovery and Merkle-linked provenance logging.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Anti-Double-Counting Lineage Traversal: </a:t>
            </a:r>
            <a:r>
              <a:rPr sz="1250">
                <a:solidFill>
                  <a:srgbClr val="212529"/>
                </a:solidFill>
                <a:latin typeface="Arial"/>
              </a:rPr>
              <a:t>Evidence Dependency Graph enforcing max_{n∈Tree}(ρn · LLRn) bounds across derived forensic channels with Δ ≥ 2.5 candidate separation.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>
                <a:solidFill>
                  <a:srgbClr val="102C57"/>
                </a:solidFill>
                <a:latin typeface="Arial"/>
              </a:rPr>
              <a:t>Honest Engineering Boundaries &amp; Closing Axiom: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Current Operational Boundaries: </a:t>
            </a:r>
            <a:r>
              <a:rPr sz="1250">
                <a:solidFill>
                  <a:srgbClr val="212529"/>
                </a:solidFill>
                <a:latin typeface="Arial"/>
              </a:rPr>
              <a:t>Automated benchmarks evaluate simulated optical models; physical hardware validation protocol ready (ingest_physical_capture.py).</a:t>
            </a:r>
          </a:p>
          <a:p>
            <a:pPr lvl="1">
              <a:spcAft>
                <a:spcPts val="200"/>
              </a:spcAft>
            </a:pPr>
            <a:r>
              <a:rPr sz="1250" b="1">
                <a:solidFill>
                  <a:srgbClr val="212529"/>
                </a:solidFill>
                <a:latin typeface="Arial"/>
              </a:rPr>
              <a:t> •  Core Forensic Commitment: </a:t>
            </a:r>
            <a:r>
              <a:rPr sz="1250">
                <a:solidFill>
                  <a:srgbClr val="212529"/>
                </a:solidFill>
                <a:latin typeface="Arial"/>
              </a:rPr>
              <a:t>'Designed to attribute when evidence is mathematically overwhelming — and fail-closed with complete integrity when it is not.'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Ad Astra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